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771900"/>
          </a:xfrm>
          <a:prstGeom prst="rect">
            <a:avLst/>
          </a:prstGeom>
          <a:solidFill>
            <a:srgbClr val="1A18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107259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i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FashionHero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22402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Piramida Strategiczna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04622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Marketplace modowy w Polsce, 2.4M kupujacych, 4200 sprzedawcow, GMV ~60M PLN/mies.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FASHION MARKETPLACE  ·  SCALE-UP  ·  2026-05-20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PRZEGLĄD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poziomów piramidy strategicznej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91672" cy="18288"/>
          </a:xfrm>
          <a:prstGeom prst="rect">
            <a:avLst/>
          </a:prstGeom>
          <a:solidFill>
            <a:srgbClr val="DDD8D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3697224" cy="2560320"/>
          </a:xfrm>
          <a:prstGeom prst="roundRect">
            <a:avLst>
              <a:gd name="adj" fmla="val 1429"/>
            </a:avLst>
          </a:prstGeom>
          <a:solidFill>
            <a:srgbClr val="1A1816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527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527048"/>
            <a:ext cx="3422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MISJA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4229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 co istniejemy (ponadczasowe)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0728" y="1143000"/>
            <a:ext cx="3697224" cy="2560320"/>
          </a:xfrm>
          <a:prstGeom prst="roundRect">
            <a:avLst>
              <a:gd name="adj" fmla="val 1429"/>
            </a:avLst>
          </a:prstGeom>
          <a:solidFill>
            <a:srgbClr val="1A1816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7888" y="12527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7888" y="1527048"/>
            <a:ext cx="3422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WIZJA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37888" y="1920240"/>
            <a:ext cx="34229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Dokąd zmierzamy (horyzont 3–5 lat)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52816" y="1143000"/>
            <a:ext cx="3697224" cy="2560320"/>
          </a:xfrm>
          <a:prstGeom prst="roundRect">
            <a:avLst>
              <a:gd name="adj" fmla="val 1429"/>
            </a:avLst>
          </a:prstGeom>
          <a:solidFill>
            <a:srgbClr val="1A1816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9976" y="12527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89976" y="1527048"/>
            <a:ext cx="3422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NORTH STAR METRIC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89976" y="1920240"/>
            <a:ext cx="34229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Jedna liczba, która mierzy wartość dla użytkownika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803904"/>
            <a:ext cx="3697224" cy="2560320"/>
          </a:xfrm>
          <a:prstGeom prst="roundRect">
            <a:avLst>
              <a:gd name="adj" fmla="val 1429"/>
            </a:avLst>
          </a:prstGeom>
          <a:solidFill>
            <a:srgbClr val="1A1816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136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187952"/>
            <a:ext cx="3422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STRATEGIA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4581144"/>
            <a:ext cx="34229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Canvas 6 pól: diagnoza, mechanizm, reguły gry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00728" y="3803904"/>
            <a:ext cx="3697224" cy="2560320"/>
          </a:xfrm>
          <a:prstGeom prst="roundRect">
            <a:avLst>
              <a:gd name="adj" fmla="val 1429"/>
            </a:avLst>
          </a:prstGeom>
          <a:solidFill>
            <a:srgbClr val="1A1816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7888" y="39136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37888" y="4187952"/>
            <a:ext cx="3422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METRYKI &amp; CELE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437888" y="4581144"/>
            <a:ext cx="34229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OKR-y kwartalne pchające NSM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52816" y="3803904"/>
            <a:ext cx="3697224" cy="2560320"/>
          </a:xfrm>
          <a:prstGeom prst="roundRect">
            <a:avLst>
              <a:gd name="adj" fmla="val 1429"/>
            </a:avLst>
          </a:prstGeom>
          <a:solidFill>
            <a:srgbClr val="1A1816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9976" y="39136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89976" y="4187952"/>
            <a:ext cx="3422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ROADMAP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89976" y="4581144"/>
            <a:ext cx="34229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Projekty zmapowane na cele i strategię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77272" y="182880"/>
            <a:ext cx="1645920" cy="365760"/>
          </a:xfrm>
          <a:prstGeom prst="roundRect">
            <a:avLst>
              <a:gd name="adj" fmla="val 10000"/>
            </a:avLst>
          </a:prstGeom>
          <a:solidFill>
            <a:srgbClr val="B5916A"/>
          </a:solidFill>
          <a:ln/>
        </p:spPr>
      </p:sp>
      <p:sp>
        <p:nvSpPr>
          <p:cNvPr id="3" name="Text 1"/>
          <p:cNvSpPr/>
          <p:nvPr/>
        </p:nvSpPr>
        <p:spPr>
          <a:xfrm>
            <a:off x="10177272" y="182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MISJA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 CO ISTNIEJEMY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Misja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91672" cy="18288"/>
          </a:xfrm>
          <a:prstGeom prst="rect">
            <a:avLst/>
          </a:prstGeom>
          <a:solidFill>
            <a:srgbClr val="DDD8D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43000"/>
            <a:ext cx="11091672" cy="1645920"/>
          </a:xfrm>
          <a:prstGeom prst="roundRect">
            <a:avLst>
              <a:gd name="adj" fmla="val 2222"/>
            </a:avLst>
          </a:prstGeom>
          <a:solidFill>
            <a:srgbClr val="1A181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34440"/>
            <a:ext cx="107259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"Pokazujemy, ze moda moze byc niezalezna, trwala i warta swojej ceny - dla kupujacych i sprzedawcow, ktorzy to rozumieja."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454396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63240"/>
            <a:ext cx="51800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UZASADNIENIE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3319272"/>
            <a:ext cx="518007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Kupujacy odrzuca fast fashion i szuka jakosci. Sprzedawcy to niezalezni tworcy, nie masowi retailerzy.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40196" y="2971800"/>
            <a:ext cx="5454396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7356" y="3063240"/>
            <a:ext cx="51800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CZEGO NIE ROBIMY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77356" y="3319272"/>
            <a:ext cx="518007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Nie wpuszczamy sprzedawcow fast fashion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Nie budujemy wlasnej marki private label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pustki: zamień "FashionHero" na konkurenta. Jeśli zdanie nadal działa — misja jest pusta.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77272" y="182880"/>
            <a:ext cx="1645920" cy="365760"/>
          </a:xfrm>
          <a:prstGeom prst="roundRect">
            <a:avLst>
              <a:gd name="adj" fmla="val 10000"/>
            </a:avLst>
          </a:prstGeom>
          <a:solidFill>
            <a:srgbClr val="B5916A"/>
          </a:solidFill>
          <a:ln/>
        </p:spPr>
      </p:sp>
      <p:sp>
        <p:nvSpPr>
          <p:cNvPr id="3" name="Text 1"/>
          <p:cNvSpPr/>
          <p:nvPr/>
        </p:nvSpPr>
        <p:spPr>
          <a:xfrm>
            <a:off x="10177272" y="182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WIZJA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DOKĄD ZMIERZAMY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Wizja — horyzont: 2029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91672" cy="18288"/>
          </a:xfrm>
          <a:prstGeom prst="rect">
            <a:avLst/>
          </a:prstGeom>
          <a:solidFill>
            <a:srgbClr val="DDD8D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43000"/>
            <a:ext cx="11091672" cy="1463040"/>
          </a:xfrm>
          <a:prstGeom prst="roundRect">
            <a:avLst>
              <a:gd name="adj" fmla="val 2500"/>
            </a:avLst>
          </a:prstGeom>
          <a:solidFill>
            <a:srgbClr val="B5916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07008"/>
            <a:ext cx="107259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"Za 3 lata kazdy niezalezny sprzedawca mody w Polsce traktuje FashionHero jako partnera wzrostu, nie tylko kanal sprzedazy. Seller Tools: 30% przychodu firmy, 1000+ placych sprzedawcow."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91672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UZASADNIENIE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3090672"/>
            <a:ext cx="1081735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Seller Tools dla tego samego tworcy z misji. Dywersyfikacja przychodu odpowiada na priorytet Mai przed seria C.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54086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MISJA (ponadczasowa)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54086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Pokazujemy, ze moda moze byc niezalezna, trwala i warta swojej ceny - dla kupujacych i sprzedawcow, ktorzy to rozumieja.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94476" y="4343400"/>
            <a:ext cx="54086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WIZJA (na horyzont)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94476" y="4617720"/>
            <a:ext cx="54086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Za 3 lata kazdy niezalezny sprzedawca mody w Polsce traktuje FashionHero jako partnera wzrostu, nie tylko kanal sprzedazy. Seller Tools: 30% przychodu firmy, 1000+ placych sprzedawcow.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77272" y="182880"/>
            <a:ext cx="1645920" cy="365760"/>
          </a:xfrm>
          <a:prstGeom prst="roundRect">
            <a:avLst>
              <a:gd name="adj" fmla="val 10000"/>
            </a:avLst>
          </a:prstGeom>
          <a:solidFill>
            <a:srgbClr val="B5916A"/>
          </a:solidFill>
          <a:ln/>
        </p:spPr>
      </p:sp>
      <p:sp>
        <p:nvSpPr>
          <p:cNvPr id="3" name="Text 1"/>
          <p:cNvSpPr/>
          <p:nvPr/>
        </p:nvSpPr>
        <p:spPr>
          <a:xfrm>
            <a:off x="10177272" y="182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NSM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NORTH STAR METRIC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Jedna liczba, która mierzy wartość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91672" cy="18288"/>
          </a:xfrm>
          <a:prstGeom prst="rect">
            <a:avLst/>
          </a:prstGeom>
          <a:solidFill>
            <a:srgbClr val="DDD8D2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1143000"/>
            <a:ext cx="8531352" cy="1554480"/>
          </a:xfrm>
          <a:prstGeom prst="roundRect">
            <a:avLst>
              <a:gd name="adj" fmla="val 2353"/>
            </a:avLst>
          </a:prstGeom>
          <a:solidFill>
            <a:srgbClr val="1A1816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1207008"/>
            <a:ext cx="83484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Miesieczna liczba zamowien bez zwrotu od kupujacych powracajacych (min. 2. zakup w ciagu 90 dni)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3605784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971800"/>
            <a:ext cx="3331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 (Amplitude)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3227832"/>
            <a:ext cx="333146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transaction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0144" y="2880360"/>
            <a:ext cx="3605784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37304" y="2971800"/>
            <a:ext cx="3331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VALUE EXCHANGE EQUATION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37304" y="3227832"/>
            <a:ext cx="333146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Kupujacy wymienia pieniadze i czas na produkt wart posiadania. FashionHero mierzy: zatrzymane zamowienie od lojalnego kupujacego.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51648" y="2880360"/>
            <a:ext cx="3605784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88808" y="2971800"/>
            <a:ext cx="3331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DLACZEGO TO NSM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88808" y="3227832"/>
            <a:ext cx="333146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Laczy retencje kupujacych z jakoscia transakcji. Potrojenie = wyzszy LTV, nizsza logistyka, wyzsza marza. Dostepny w PostHog.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77272" y="182880"/>
            <a:ext cx="1645920" cy="365760"/>
          </a:xfrm>
          <a:prstGeom prst="roundRect">
            <a:avLst>
              <a:gd name="adj" fmla="val 10000"/>
            </a:avLst>
          </a:prstGeom>
          <a:solidFill>
            <a:srgbClr val="B5916A"/>
          </a:solidFill>
          <a:ln/>
        </p:spPr>
      </p:sp>
      <p:sp>
        <p:nvSpPr>
          <p:cNvPr id="3" name="Text 1"/>
          <p:cNvSpPr/>
          <p:nvPr/>
        </p:nvSpPr>
        <p:spPr>
          <a:xfrm>
            <a:off x="10177272" y="182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STRATEGIA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CANVAS STRATEGICZNY — CZ.1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Cel roczny i diagnoza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91672" cy="18288"/>
          </a:xfrm>
          <a:prstGeom prst="rect">
            <a:avLst/>
          </a:prstGeom>
          <a:solidFill>
            <a:srgbClr val="DDD8D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43000"/>
            <a:ext cx="11091672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3444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CEL ROCZNY (One Year Goal)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490472"/>
            <a:ext cx="108173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maja 2027: marza platformy &gt;= 21% (bez ciecia GMV) + 100 sprzedawcow aktywnie uzywajacych Seller Tools.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11091672" cy="210312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4320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DIAGNOZA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999232"/>
            <a:ext cx="1081735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Marza spada bo nagradzamy nie tych sprzedawcow: negotiated sellerzy dostaja najnizsze prowizje i generuja 13x wiecej ticketow supportu. Ten koszt jest niewidoczny w P&amp;L. Seller Tools nie istnieja.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1091672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98348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THEORY OF CHANGE (mechanizm)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5239512"/>
            <a:ext cx="1081735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Widocznosc kosztu per seller + Seller Tools jako alternatywa dla rabatu prowizji. Weryfikacja Q3 2026.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77272" y="182880"/>
            <a:ext cx="1645920" cy="365760"/>
          </a:xfrm>
          <a:prstGeom prst="roundRect">
            <a:avLst>
              <a:gd name="adj" fmla="val 10000"/>
            </a:avLst>
          </a:prstGeom>
          <a:solidFill>
            <a:srgbClr val="B5916A"/>
          </a:solidFill>
          <a:ln/>
        </p:spPr>
      </p:sp>
      <p:sp>
        <p:nvSpPr>
          <p:cNvPr id="3" name="Text 1"/>
          <p:cNvSpPr/>
          <p:nvPr/>
        </p:nvSpPr>
        <p:spPr>
          <a:xfrm>
            <a:off x="10177272" y="182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STRATEGIA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CANVAS STRATEGICZNY — CZ.2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Reguły gry i ruchy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91672" cy="18288"/>
          </a:xfrm>
          <a:prstGeom prst="rect">
            <a:avLst/>
          </a:prstGeom>
          <a:solidFill>
            <a:srgbClr val="DDD8D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43000"/>
            <a:ext cx="5408676" cy="438912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34440"/>
            <a:ext cx="51343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GUIDING POLICY (gdzie gramy + czego NIE robimy)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490472"/>
            <a:ext cx="5134356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Przewagi: dane 2.4M kupujacych + 4200 relacji ze sprzedawcami. Wykluczenia: nie fast fashion, nie private label, nie logistyka wlasna, nie enterprise, nie konkurujemy cena z Zalando, nie D2C.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94476" y="1143000"/>
            <a:ext cx="5408676" cy="438912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1636" y="1234440"/>
            <a:ext cx="51343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COHERENT ACTIONS (3–5 ruchów)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31636" y="1490472"/>
            <a:ext cx="5134356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Fake door test -&gt; Seller Tools MVP — Wojciech — 30 placych sellerow do Q4 2026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Prawdziwy koszt sellera w P&amp;L — Ela — 100% negotiated sellerow z marza netto do Q3 2026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Retencja kupujacych — Konrad — NSM +25% vs baseline Q2 2026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Restrukturyzacja tierow prowizji — Wojciech + Maja — &lt;=5 wnioskow o obnizke/mies. od Q4 2026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77272" y="182880"/>
            <a:ext cx="1645920" cy="365760"/>
          </a:xfrm>
          <a:prstGeom prst="roundRect">
            <a:avLst>
              <a:gd name="adj" fmla="val 10000"/>
            </a:avLst>
          </a:prstGeom>
          <a:solidFill>
            <a:srgbClr val="B5916A"/>
          </a:solidFill>
          <a:ln/>
        </p:spPr>
      </p:sp>
      <p:sp>
        <p:nvSpPr>
          <p:cNvPr id="3" name="Text 1"/>
          <p:cNvSpPr/>
          <p:nvPr/>
        </p:nvSpPr>
        <p:spPr>
          <a:xfrm>
            <a:off x="10177272" y="182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STRATEGIA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CANVAS STRATEGICZNY — CZ.3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Scenariusze i ryzyka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91672" cy="18288"/>
          </a:xfrm>
          <a:prstGeom prst="rect">
            <a:avLst/>
          </a:prstGeom>
          <a:solidFill>
            <a:srgbClr val="DDD8D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43000"/>
            <a:ext cx="3605784" cy="2926080"/>
          </a:xfrm>
          <a:prstGeom prst="roundRect">
            <a:avLst>
              <a:gd name="adj" fmla="val 1250"/>
            </a:avLst>
          </a:prstGeom>
          <a:solidFill>
            <a:srgbClr val="E8F5E9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34440"/>
            <a:ext cx="3331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SUCCESS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490472"/>
            <a:ext cx="333146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Marza &gt;= 22%, 100+ placych sellerow, NSM +30%. Przyspieszamy Seller Tools, rozważamy geografie Q3 2027.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0144" y="1143000"/>
            <a:ext cx="3605784" cy="2926080"/>
          </a:xfrm>
          <a:prstGeom prst="roundRect">
            <a:avLst>
              <a:gd name="adj" fmla="val 1250"/>
            </a:avLst>
          </a:prstGeom>
          <a:solidFill>
            <a:srgbClr val="FFF8E1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37304" y="1234440"/>
            <a:ext cx="3331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37304" y="1490472"/>
            <a:ext cx="333146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Marza &gt;= 21% ale &lt;10 placych sellerow LUB odwrotnie. Pivot produktu lub restrukturyzacja bez produktu.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51648" y="1143000"/>
            <a:ext cx="3605784" cy="2926080"/>
          </a:xfrm>
          <a:prstGeom prst="roundRect">
            <a:avLst>
              <a:gd name="adj" fmla="val 1250"/>
            </a:avLst>
          </a:prstGeom>
          <a:solidFill>
            <a:srgbClr val="FFEBEE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88808" y="1234440"/>
            <a:ext cx="3331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FAIL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88808" y="1490472"/>
            <a:ext cx="333146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Fake door CTR &lt;3% i marza spada po Q3 2026. Wracamy do OST.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11091672" cy="210312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29768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RYZYKA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4553712"/>
            <a:ext cx="1081735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Marek: build bez deliverable. Mitygacja: fake door najpierw.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Ola: blokuje restrukturyzacje. Mitygacja: dane Eli.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Forte: eskaluje 0% komisji. Mitygacja: A/B test z wylacznikiem.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Adopcja: sellerzy nie placa. Mitygacja: kryterium wyjscia po 90 dniach.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77272" y="182880"/>
            <a:ext cx="1645920" cy="365760"/>
          </a:xfrm>
          <a:prstGeom prst="roundRect">
            <a:avLst>
              <a:gd name="adj" fmla="val 10000"/>
            </a:avLst>
          </a:prstGeom>
          <a:solidFill>
            <a:srgbClr val="B5916A"/>
          </a:solidFill>
          <a:ln/>
        </p:spPr>
      </p:sp>
      <p:sp>
        <p:nvSpPr>
          <p:cNvPr id="3" name="Text 1"/>
          <p:cNvSpPr/>
          <p:nvPr/>
        </p:nvSpPr>
        <p:spPr>
          <a:xfrm>
            <a:off x="10177272" y="182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METRYKI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OKR-Y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Cele na Q3 2026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91672" cy="18288"/>
          </a:xfrm>
          <a:prstGeom prst="rect">
            <a:avLst/>
          </a:prstGeom>
          <a:solidFill>
            <a:srgbClr val="DDD8D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43000"/>
            <a:ext cx="3636264" cy="5212080"/>
          </a:xfrm>
          <a:prstGeom prst="roundRect">
            <a:avLst>
              <a:gd name="adj" fmla="val 1006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143000"/>
            <a:ext cx="3636264" cy="320040"/>
          </a:xfrm>
          <a:prstGeom prst="roundRect">
            <a:avLst>
              <a:gd name="adj" fmla="val 11429"/>
            </a:avLst>
          </a:prstGeom>
          <a:solidFill>
            <a:srgbClr val="1A181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7957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1527048"/>
            <a:ext cx="34168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Udowodnij, ze sprzedawcy chca placic za Seller Tools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251460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KR1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2770632"/>
            <a:ext cx="3416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Fake door CTR &gt;= 10% i completion &gt;= 35% w 7 dni od uruchomienia (15 lipca)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32918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KR2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" y="3547872"/>
            <a:ext cx="3416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&gt;= 30 sprzedawcow konczy flow zainteresowania do 31 sierpnia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406908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KR3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" y="4325112"/>
            <a:ext cx="3416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Brief MVP zatwierdzony przez Marka do 1 sierpnia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5943600"/>
            <a:ext cx="3416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Owner: Wojciech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76344" y="1143000"/>
            <a:ext cx="3636264" cy="5212080"/>
          </a:xfrm>
          <a:prstGeom prst="roundRect">
            <a:avLst>
              <a:gd name="adj" fmla="val 1006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76344" y="1143000"/>
            <a:ext cx="3636264" cy="320040"/>
          </a:xfrm>
          <a:prstGeom prst="roundRect">
            <a:avLst>
              <a:gd name="adj" fmla="val 11429"/>
            </a:avLst>
          </a:prstGeom>
          <a:solidFill>
            <a:srgbClr val="1A1816"/>
          </a:solidFill>
          <a:ln/>
        </p:spPr>
      </p:sp>
      <p:sp>
        <p:nvSpPr>
          <p:cNvPr id="20" name="Text 18"/>
          <p:cNvSpPr/>
          <p:nvPr/>
        </p:nvSpPr>
        <p:spPr>
          <a:xfrm>
            <a:off x="4367784" y="117957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6072" y="1527048"/>
            <a:ext cx="34168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Zrob ukryty koszt sellera widocznym w P&amp;L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86072" y="251460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KR1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86072" y="2770632"/>
            <a:ext cx="3416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 marzy per seller gotowy dla 100% negotiated do 1 wrzesnia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6072" y="32918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KR2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86072" y="3547872"/>
            <a:ext cx="3416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 rekrutacyjny Oli z kategoria jako filtrem do 15 wrzesnia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6072" y="406908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KR3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86072" y="4325112"/>
            <a:ext cx="3416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Pierwszy P&amp;L review per tier z Maja do 30 wrzesnia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6072" y="5943600"/>
            <a:ext cx="3416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Owner: Ela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04048" y="1143000"/>
            <a:ext cx="3636264" cy="5212080"/>
          </a:xfrm>
          <a:prstGeom prst="roundRect">
            <a:avLst>
              <a:gd name="adj" fmla="val 1006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04048" y="1143000"/>
            <a:ext cx="3636264" cy="320040"/>
          </a:xfrm>
          <a:prstGeom prst="roundRect">
            <a:avLst>
              <a:gd name="adj" fmla="val 11429"/>
            </a:avLst>
          </a:prstGeom>
          <a:solidFill>
            <a:srgbClr val="1A1816"/>
          </a:solidFill>
          <a:ln/>
        </p:spPr>
      </p:sp>
      <p:sp>
        <p:nvSpPr>
          <p:cNvPr id="31" name="Text 29"/>
          <p:cNvSpPr/>
          <p:nvPr/>
        </p:nvSpPr>
        <p:spPr>
          <a:xfrm>
            <a:off x="8095488" y="117957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13776" y="1527048"/>
            <a:ext cx="34168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Zmierz i rusz NSM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13776" y="251460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KR1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113776" y="2770632"/>
            <a:ext cx="3416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 NSM zatwierdzony do 15 lipca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13776" y="32918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KR2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113776" y="3547872"/>
            <a:ext cx="3416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 powracajacego kupujacego dla &gt;= 10K kupujacych do 31 sierpnia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13776" y="406908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KR3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113776" y="4325112"/>
            <a:ext cx="3416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NSM w sierpniu &gt;= 5% powyzej baseline z czerwca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13776" y="5943600"/>
            <a:ext cx="3416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Owner: Konrad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77272" y="182880"/>
            <a:ext cx="1645920" cy="365760"/>
          </a:xfrm>
          <a:prstGeom prst="roundRect">
            <a:avLst>
              <a:gd name="adj" fmla="val 10000"/>
            </a:avLst>
          </a:prstGeom>
          <a:solidFill>
            <a:srgbClr val="B5916A"/>
          </a:solidFill>
          <a:ln/>
        </p:spPr>
      </p:sp>
      <p:sp>
        <p:nvSpPr>
          <p:cNvPr id="3" name="Text 1"/>
          <p:cNvSpPr/>
          <p:nvPr/>
        </p:nvSpPr>
        <p:spPr>
          <a:xfrm>
            <a:off x="10177272" y="182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Projekty na 4 kwartały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91672" cy="18288"/>
          </a:xfrm>
          <a:prstGeom prst="rect">
            <a:avLst/>
          </a:prstGeom>
          <a:solidFill>
            <a:srgbClr val="DDD8D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43000"/>
            <a:ext cx="2704338" cy="5212080"/>
          </a:xfrm>
          <a:prstGeom prst="roundRect">
            <a:avLst>
              <a:gd name="adj" fmla="val 1352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143000"/>
            <a:ext cx="2704338" cy="347472"/>
          </a:xfrm>
          <a:prstGeom prst="roundRect">
            <a:avLst>
              <a:gd name="adj" fmla="val 10526"/>
            </a:avLst>
          </a:prstGeom>
          <a:solidFill>
            <a:srgbClr val="1A181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88720"/>
            <a:ext cx="2521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Q3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2521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Fake door test Seller Tools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2521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Wojciech · 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14600"/>
            <a:ext cx="2521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Seller Cost Model dashboard (marza per seller)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971800"/>
            <a:ext cx="2521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Ela · 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2521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Retention Engine v1 (post-purchase + personalizacja)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2521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Konrad · 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44418" y="1143000"/>
            <a:ext cx="2704338" cy="5212080"/>
          </a:xfrm>
          <a:prstGeom prst="roundRect">
            <a:avLst>
              <a:gd name="adj" fmla="val 1352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44418" y="1143000"/>
            <a:ext cx="2704338" cy="347472"/>
          </a:xfrm>
          <a:prstGeom prst="roundRect">
            <a:avLst>
              <a:gd name="adj" fmla="val 10526"/>
            </a:avLst>
          </a:prstGeom>
          <a:solidFill>
            <a:srgbClr val="B5916A"/>
          </a:solidFill>
          <a:ln/>
        </p:spPr>
      </p:sp>
      <p:sp>
        <p:nvSpPr>
          <p:cNvPr id="18" name="Text 16"/>
          <p:cNvSpPr/>
          <p:nvPr/>
        </p:nvSpPr>
        <p:spPr>
          <a:xfrm>
            <a:off x="3435858" y="1188720"/>
            <a:ext cx="2521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Q4 2026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35858" y="1600200"/>
            <a:ext cx="2521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Seller Tools MVP (analytics + promoted listings)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35858" y="2057400"/>
            <a:ext cx="2521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Wojciech · 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35858" y="2514600"/>
            <a:ext cx="2521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Nowy tier prowizji 20-21% w systemie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35858" y="2971800"/>
            <a:ext cx="2521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Maja · 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35858" y="3429000"/>
            <a:ext cx="2521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Pilotaz Seller Tools z 30 sellerami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35858" y="3886200"/>
            <a:ext cx="2521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Wojciech · 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40196" y="1143000"/>
            <a:ext cx="2704338" cy="5212080"/>
          </a:xfrm>
          <a:prstGeom prst="roundRect">
            <a:avLst>
              <a:gd name="adj" fmla="val 1352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40196" y="1143000"/>
            <a:ext cx="2704338" cy="347472"/>
          </a:xfrm>
          <a:prstGeom prst="roundRect">
            <a:avLst>
              <a:gd name="adj" fmla="val 10526"/>
            </a:avLst>
          </a:prstGeom>
          <a:solidFill>
            <a:srgbClr val="5C7A6B"/>
          </a:solidFill>
          <a:ln/>
        </p:spPr>
      </p:sp>
      <p:sp>
        <p:nvSpPr>
          <p:cNvPr id="27" name="Text 25"/>
          <p:cNvSpPr/>
          <p:nvPr/>
        </p:nvSpPr>
        <p:spPr>
          <a:xfrm>
            <a:off x="6231636" y="1188720"/>
            <a:ext cx="2521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Q1 2027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31636" y="1600200"/>
            <a:ext cx="2521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Seller Tools commercial launch (billing + self-serve)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31636" y="2057400"/>
            <a:ext cx="2521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Wojciech · 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31636" y="2514600"/>
            <a:ext cx="2521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Retention Engine v2 (rekomendacje od tego samego sellera)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31636" y="2971800"/>
            <a:ext cx="2521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Konrad · 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31636" y="3429000"/>
            <a:ext cx="2521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Deck serii C (metryki + story + model)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31636" y="3886200"/>
            <a:ext cx="2521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Maja · 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935974" y="1143000"/>
            <a:ext cx="2704338" cy="5212080"/>
          </a:xfrm>
          <a:prstGeom prst="roundRect">
            <a:avLst>
              <a:gd name="adj" fmla="val 1352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35974" y="1143000"/>
            <a:ext cx="2704338" cy="347472"/>
          </a:xfrm>
          <a:prstGeom prst="roundRect">
            <a:avLst>
              <a:gd name="adj" fmla="val 10526"/>
            </a:avLst>
          </a:prstGeom>
          <a:solidFill>
            <a:srgbClr val="8B6F4E"/>
          </a:solidFill>
          <a:ln/>
        </p:spPr>
      </p:sp>
      <p:sp>
        <p:nvSpPr>
          <p:cNvPr id="36" name="Text 34"/>
          <p:cNvSpPr/>
          <p:nvPr/>
        </p:nvSpPr>
        <p:spPr>
          <a:xfrm>
            <a:off x="9027414" y="1188720"/>
            <a:ext cx="2521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Q2 2027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027414" y="1600200"/>
            <a:ext cx="2521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Seller Tools upsell (automatyczny tier 500-1500 PLN)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027414" y="2057400"/>
            <a:ext cx="2521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Wojciech · 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027414" y="2514600"/>
            <a:ext cx="2521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NSM weekly report automatyczny dla boardu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027414" y="2971800"/>
            <a:ext cx="2521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Ela · 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027414" y="3429000"/>
            <a:ext cx="2521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Data room due diligence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027414" y="3886200"/>
            <a:ext cx="2521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Maja · 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PIRAMIDA STRATEGICZNA — CAŁOŚĆ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FashionHero — Piramida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91672" cy="18288"/>
          </a:xfrm>
          <a:prstGeom prst="rect">
            <a:avLst/>
          </a:prstGeom>
          <a:solidFill>
            <a:srgbClr val="DDD8D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11091672" cy="685800"/>
          </a:xfrm>
          <a:prstGeom prst="roundRect">
            <a:avLst>
              <a:gd name="adj" fmla="val 2667"/>
            </a:avLst>
          </a:prstGeom>
          <a:solidFill>
            <a:srgbClr val="1A181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 ROADMAP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1234440"/>
            <a:ext cx="8897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Q3 2026 · Q4 2026 · Q1 2027 · Q2 2027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92307" y="1929384"/>
            <a:ext cx="10204338" cy="685800"/>
          </a:xfrm>
          <a:prstGeom prst="roundRect">
            <a:avLst>
              <a:gd name="adj" fmla="val 2667"/>
            </a:avLst>
          </a:prstGeom>
          <a:solidFill>
            <a:srgbClr val="1A1816"/>
          </a:solidFill>
          <a:ln/>
        </p:spPr>
      </p:sp>
      <p:sp>
        <p:nvSpPr>
          <p:cNvPr id="9" name="Text 7"/>
          <p:cNvSpPr/>
          <p:nvPr/>
        </p:nvSpPr>
        <p:spPr>
          <a:xfrm>
            <a:off x="1129467" y="197510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 METRYKI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03987" y="1975104"/>
            <a:ext cx="80097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Q3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35974" y="2670048"/>
            <a:ext cx="9317004" cy="685800"/>
          </a:xfrm>
          <a:prstGeom prst="roundRect">
            <a:avLst>
              <a:gd name="adj" fmla="val 2667"/>
            </a:avLst>
          </a:prstGeom>
          <a:solidFill>
            <a:srgbClr val="1A1816"/>
          </a:solidFill>
          <a:ln/>
        </p:spPr>
      </p:sp>
      <p:sp>
        <p:nvSpPr>
          <p:cNvPr id="12" name="Text 10"/>
          <p:cNvSpPr/>
          <p:nvPr/>
        </p:nvSpPr>
        <p:spPr>
          <a:xfrm>
            <a:off x="1573134" y="271576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 STRATEGIA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47654" y="2715768"/>
            <a:ext cx="71224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maja 2027: marza platformy &gt;= 21% (bez ciecia GMV) + 100 sprzedawcow aktywnie uzywajacych Seller Tools.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79641" y="3410712"/>
            <a:ext cx="8429671" cy="685800"/>
          </a:xfrm>
          <a:prstGeom prst="roundRect">
            <a:avLst>
              <a:gd name="adj" fmla="val 2667"/>
            </a:avLst>
          </a:prstGeom>
          <a:solidFill>
            <a:srgbClr val="1A1816"/>
          </a:solidFill>
          <a:ln/>
        </p:spPr>
      </p:sp>
      <p:sp>
        <p:nvSpPr>
          <p:cNvPr id="15" name="Text 13"/>
          <p:cNvSpPr/>
          <p:nvPr/>
        </p:nvSpPr>
        <p:spPr>
          <a:xfrm>
            <a:off x="2016801" y="345643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 NSM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91321" y="3456432"/>
            <a:ext cx="623511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Miesieczna liczba zamowien bez zwrotu od kupujacych powracajacych (min. 2. zakup w ciagu 90 dni)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23308" y="4151376"/>
            <a:ext cx="7542337" cy="685800"/>
          </a:xfrm>
          <a:prstGeom prst="roundRect">
            <a:avLst>
              <a:gd name="adj" fmla="val 2667"/>
            </a:avLst>
          </a:prstGeom>
          <a:solidFill>
            <a:srgbClr val="1A1816"/>
          </a:solidFill>
          <a:ln/>
        </p:spPr>
      </p:sp>
      <p:sp>
        <p:nvSpPr>
          <p:cNvPr id="18" name="Text 16"/>
          <p:cNvSpPr/>
          <p:nvPr/>
        </p:nvSpPr>
        <p:spPr>
          <a:xfrm>
            <a:off x="2460468" y="419709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WIZJA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34988" y="4197096"/>
            <a:ext cx="5347777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Za 3 lata kazdy niezalezny sprzedawca mody w Polsce traktuje FashionHero jako partnera wzrostu, nie tylko kanal sprzedazy. Seller Tools: 30% przychodu firmy, 1000+ placych sprzedawcow.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66974" y="4892040"/>
            <a:ext cx="6655003" cy="685800"/>
          </a:xfrm>
          <a:prstGeom prst="roundRect">
            <a:avLst>
              <a:gd name="adj" fmla="val 2667"/>
            </a:avLst>
          </a:prstGeom>
          <a:solidFill>
            <a:srgbClr val="1A1816"/>
          </a:solidFill>
          <a:ln/>
        </p:spPr>
      </p:sp>
      <p:sp>
        <p:nvSpPr>
          <p:cNvPr id="21" name="Text 19"/>
          <p:cNvSpPr/>
          <p:nvPr/>
        </p:nvSpPr>
        <p:spPr>
          <a:xfrm>
            <a:off x="2904134" y="49377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 MISJA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78654" y="4937760"/>
            <a:ext cx="446044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Pokazujemy, ze moda moze byc niezalezna, trwala i warta swojej ceny - dla kupujacych i sprzedawcow, ktorzy to rozumieja.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WERYFIKACJA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drabiny — kaskada w górę i w dół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91672" cy="18288"/>
          </a:xfrm>
          <a:prstGeom prst="rect">
            <a:avLst/>
          </a:prstGeom>
          <a:solidFill>
            <a:srgbClr val="DDD8D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11091672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8016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536192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Losowy projekt → OKR → Coherent Action → strategiczna oś → NSM → Wizja → Misja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091672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770632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NSM → czy masz projekt który ją realnie podnosi? Który? Jak?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11091672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74904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4005072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Każde wykluczenie ze strategii → czy WSZYSTKIE projekty je respektują?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11091672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98348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5239512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Każdy Coherent Action → czy ma ≥1 projekt w roadmapie?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 DALEJ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Trzy rzeczy do zrobienia w tym tygodniu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91672" cy="18288"/>
          </a:xfrm>
          <a:prstGeom prst="rect">
            <a:avLst/>
          </a:prstGeom>
          <a:solidFill>
            <a:srgbClr val="DDD8D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11091672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548640" cy="1371600"/>
          </a:xfrm>
          <a:prstGeom prst="roundRect">
            <a:avLst>
              <a:gd name="adj" fmla="val 6667"/>
            </a:avLst>
          </a:prstGeom>
          <a:solidFill>
            <a:srgbClr val="1A181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548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102687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Pokaż piramidę Maj i Elze — zweryfikujcie NSM i Diagnosis danymi z PostHog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1091672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34640"/>
            <a:ext cx="548640" cy="1371600"/>
          </a:xfrm>
          <a:prstGeom prst="roundRect">
            <a:avLst>
              <a:gd name="adj" fmla="val 6667"/>
            </a:avLst>
          </a:prstGeom>
          <a:solidFill>
            <a:srgbClr val="1A181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34640"/>
            <a:ext cx="548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34440" y="2971800"/>
            <a:ext cx="102687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Zrób test drabiny z losowym projektem z backlogu — czy drabina się nie urywa?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11091672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389120"/>
            <a:ext cx="548640" cy="1371600"/>
          </a:xfrm>
          <a:prstGeom prst="roundRect">
            <a:avLst>
              <a:gd name="adj" fmla="val 6667"/>
            </a:avLst>
          </a:prstGeom>
          <a:solidFill>
            <a:srgbClr val="1A181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389120"/>
            <a:ext cx="548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91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34440" y="4526280"/>
            <a:ext cx="102687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Zdefiniuj OKR-y na najbliższy kwartał i przypisz ownerów (1 osoba, nie zespół)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2026-05-20T14:02:12Z</dcterms:created>
  <dcterms:modified xsi:type="dcterms:W3CDTF">2026-05-20T14:02:12Z</dcterms:modified>
</cp:coreProperties>
</file>